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slide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slide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slide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slide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slide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slide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slide_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slide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0"/>
            <a:ext cx="177900" cy="514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33400" y="381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50">
                <a:solidFill>
                  <a:srgbClr val="2563EB"/>
                </a:solidFill>
              </a:rPr>
              <a:t>MEETING REVIEW</a:t>
            </a:r>
            <a:endParaRPr b="1" sz="850">
              <a:solidFill>
                <a:srgbClr val="2563EB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3400" y="698500"/>
            <a:ext cx="55881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2400">
                <a:solidFill>
                  <a:srgbClr val="0F172A"/>
                </a:solidFill>
              </a:rPr>
              <a:t>Product Marketing Meeting Weekly</a:t>
            </a:r>
            <a:endParaRPr b="1" sz="2400">
              <a:solidFill>
                <a:srgbClr val="0F172A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33400" y="1701800"/>
            <a:ext cx="5460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050">
                <a:solidFill>
                  <a:srgbClr val="64748B"/>
                </a:solidFill>
              </a:rPr>
              <a:t>Coordinating Event Support, Messaging, and Competitive Strategy</a:t>
            </a:r>
            <a:endParaRPr sz="1050">
              <a:solidFill>
                <a:srgbClr val="64748B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33400" y="2209800"/>
            <a:ext cx="5334000" cy="11685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736600" y="2413000"/>
            <a:ext cx="4927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50">
                <a:solidFill>
                  <a:srgbClr val="1E3A8A"/>
                </a:solidFill>
              </a:rPr>
              <a:t>This meeting focused on establishing clear ownership and alignment for event execution, announcement strategy, competitive analysis refinement, and messaging evolution.</a:t>
            </a:r>
            <a:endParaRPr b="1" sz="1150">
              <a:solidFill>
                <a:srgbClr val="1E3A8A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6248400" y="698500"/>
            <a:ext cx="2387700" cy="9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6400800" y="812800"/>
            <a:ext cx="2082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Business Context and Challenges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400800" y="1130300"/>
            <a:ext cx="208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650">
                <a:solidFill>
                  <a:srgbClr val="334155"/>
                </a:solidFill>
              </a:rPr>
              <a:t>GitLab’s rapid release cadence and transparency require a coordinated approach to event support, product announcements, and competitive positioning. The Product Marketing team must bridge distributed functions and complex, incremental innovation cycles to optimize market presence. Implication: Without clear protocols and alignment, event execution risks gaps and messaging may lack impact, possibly diminishing GitLab’s competitive positioning.</a:t>
            </a:r>
            <a:endParaRPr sz="650">
              <a:solidFill>
                <a:srgbClr val="334155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6248400" y="1841500"/>
            <a:ext cx="2387700" cy="9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6400800" y="1955800"/>
            <a:ext cx="2082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Meeting Objectives and Stakeholders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6400800" y="2273300"/>
            <a:ext cx="208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650">
                <a:solidFill>
                  <a:srgbClr val="334155"/>
                </a:solidFill>
              </a:rPr>
              <a:t>The session aimed to clarify event sponsor roles, consolidate announcement themes, prioritize features by impact, upgrade competitive analysis methodology, and iterate on brand/product messaging. Stakeholders included Product Marketing, GTM, PR, Campaign Managers, Competitive Intelligence, and Product Management. Implication: Broad cross-functional engagement ensures recommendations are actionable and aligned with GTM strategy and corporate events team needs.</a:t>
            </a:r>
            <a:endParaRPr sz="650">
              <a:solidFill>
                <a:srgbClr val="334155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248400" y="2984500"/>
            <a:ext cx="2387700" cy="990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6400800" y="3098800"/>
            <a:ext cx="2082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Why This Discussion Matters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400800" y="3416300"/>
            <a:ext cx="208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00">
                <a:solidFill>
                  <a:srgbClr val="334155"/>
                </a:solidFill>
              </a:rPr>
              <a:t>Improved event coordination, coherent announcements, and sharper messaging are critical to strengthening market differentiation, boosting adoption, and delivering consistent, credible narratives to customers, partners, analysts, and press. Implication: Successful implementation enhances brand presence and product advocacy at flagship industry events.</a:t>
            </a:r>
            <a:endParaRPr sz="700">
              <a:solidFill>
                <a:srgbClr val="334155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33400" y="3581400"/>
            <a:ext cx="5334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880">
                <a:solidFill>
                  <a:srgbClr val="64748B"/>
                </a:solidFill>
              </a:rPr>
              <a:t>Meeting: Product Marketing Meeting Weekly Date: 2026-04-27</a:t>
            </a:r>
            <a:endParaRPr sz="880">
              <a:solidFill>
                <a:srgbClr val="64748B"/>
              </a:solidFill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33400" y="4140200"/>
            <a:ext cx="8102700" cy="5589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 txBox="1"/>
          <p:nvPr/>
        </p:nvSpPr>
        <p:spPr>
          <a:xfrm>
            <a:off x="711200" y="4229100"/>
            <a:ext cx="7746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</a:rPr>
              <a:t>Clear role assignments and strategic alignment on event and messaging protocols are foundational to maximizing GitLab's competitive impact and operational readiness.</a:t>
            </a:r>
            <a:endParaRPr b="1"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57200" y="2794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900">
                <a:solidFill>
                  <a:srgbClr val="0F172A"/>
                </a:solidFill>
              </a:rPr>
              <a:t>Executive Summary</a:t>
            </a:r>
            <a:endParaRPr b="1" sz="1900">
              <a:solidFill>
                <a:srgbClr val="0F172A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57200" y="635000"/>
            <a:ext cx="5460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930">
                <a:solidFill>
                  <a:srgbClr val="64748B"/>
                </a:solidFill>
              </a:rPr>
              <a:t>Key Takeaways from Product Marketing Coordination Meeting</a:t>
            </a:r>
            <a:endParaRPr sz="930">
              <a:solidFill>
                <a:srgbClr val="64748B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57200" y="952500"/>
            <a:ext cx="8229600" cy="4446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609600" y="1041400"/>
            <a:ext cx="7924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The team defined clearer event ownership, prioritized grouped mature feature announcements, adopted a stack ranking process for feature impact, refined competitive mapping, and finalized core messaging for upcoming events.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57200" y="1549400"/>
            <a:ext cx="4013100" cy="129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609600" y="1663700"/>
            <a:ext cx="3708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Clarified Event Support Roles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609600" y="1981200"/>
            <a:ext cx="3708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60">
                <a:solidFill>
                  <a:srgbClr val="334155"/>
                </a:solidFill>
              </a:rPr>
              <a:t>Go-To-Market teams will sponsor corporate events while Product Marketing Managers ensure campaign managers commit explicitly. This clarity reduces ambiguity and better aligns resources for event execution. Implication: Reduces risks of last-minute event support gaps and enhances preparation for high-profile occasions.</a:t>
            </a:r>
            <a:endParaRPr sz="760">
              <a:solidFill>
                <a:srgbClr val="334155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673600" y="1549400"/>
            <a:ext cx="4013100" cy="12954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4826000" y="1663700"/>
            <a:ext cx="3708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Consolidated and Impactful Announcements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4826000" y="1981200"/>
            <a:ext cx="3708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60">
                <a:solidFill>
                  <a:srgbClr val="334155"/>
                </a:solidFill>
              </a:rPr>
              <a:t>Product announcements will focus on grouped, mature features (e.g., Vulnerability Management) rather than isolated incremental updates, improving narrative strength and market reception. Implication: Enables PR and marketing teams to craft cohesive, resonant stories that highlight real advancements.</a:t>
            </a:r>
            <a:endParaRPr sz="760">
              <a:solidFill>
                <a:srgbClr val="334155"/>
              </a:solidFill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57200" y="2997200"/>
            <a:ext cx="4013100" cy="129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609600" y="3111500"/>
            <a:ext cx="3708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Data-Informed Feature Prioritization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609600" y="3429000"/>
            <a:ext cx="3708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60">
                <a:solidFill>
                  <a:srgbClr val="334155"/>
                </a:solidFill>
              </a:rPr>
              <a:t>Features will be stack ranked based on a mix of usage metrics, community demand, and team judgment. This approach enhances credibility and concentrates attention on high-impact upgrades. Implication: Ensures announcement content emphasizes features most relevant to users and market expectations.</a:t>
            </a:r>
            <a:endParaRPr sz="760">
              <a:solidFill>
                <a:srgbClr val="334155"/>
              </a:solidFill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673600" y="2997200"/>
            <a:ext cx="4013100" cy="12954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4826000" y="3111500"/>
            <a:ext cx="3708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Enhanced Competitive Analysis and Messaging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826000" y="3429000"/>
            <a:ext cx="3708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60">
                <a:solidFill>
                  <a:srgbClr val="334155"/>
                </a:solidFill>
              </a:rPr>
              <a:t>Competitive mapping is now stage and tier-specific to avoid irrelevant comparisons. Messaging phrases have been iteratively refined to be pithy, parity-based, and market-ready. Implication: Builds trust in marketing assets and unifies market-facing communications.</a:t>
            </a:r>
            <a:endParaRPr sz="760">
              <a:solidFill>
                <a:srgbClr val="334155"/>
              </a:solidFill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457200" y="4495800"/>
            <a:ext cx="8229600" cy="40650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5000" y="4584700"/>
            <a:ext cx="7874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</a:rPr>
              <a:t>Strategic refinements in event support, announcement strategy, competitive positioning, and messaging collectively elevate GitLab's industry presence and narrative coherence.</a:t>
            </a:r>
            <a:endParaRPr b="1"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57200" y="2794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900">
                <a:solidFill>
                  <a:srgbClr val="0F172A"/>
                </a:solidFill>
              </a:rPr>
              <a:t>Core Challenges and Decision Tensions</a:t>
            </a:r>
            <a:endParaRPr b="1" sz="1900">
              <a:solidFill>
                <a:srgbClr val="0F172A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635000"/>
            <a:ext cx="5460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930">
                <a:solidFill>
                  <a:srgbClr val="64748B"/>
                </a:solidFill>
              </a:rPr>
              <a:t>Unresolved Risks and Open Questions in Marketing Coordination</a:t>
            </a:r>
            <a:endParaRPr sz="930">
              <a:solidFill>
                <a:srgbClr val="64748B"/>
              </a:solidFill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57200" y="952500"/>
            <a:ext cx="8229600" cy="4446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09600" y="1041400"/>
            <a:ext cx="7924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Despite progress, unresolved role confirmations, data variability in feature prioritization, and the evolving competitive analysis process pose risks to event success and messaging credibility.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3400" y="1511300"/>
            <a:ext cx="355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64748B"/>
                </a:solidFill>
              </a:rPr>
              <a:t>Pressure / ambiguity</a:t>
            </a:r>
            <a:endParaRPr b="1" sz="950">
              <a:solidFill>
                <a:srgbClr val="64748B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749800" y="1511300"/>
            <a:ext cx="355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64748B"/>
                </a:solidFill>
              </a:rPr>
              <a:t>Decision / implication</a:t>
            </a:r>
            <a:endParaRPr b="1" sz="950">
              <a:solidFill>
                <a:srgbClr val="64748B"/>
              </a:solidFill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57200" y="1778000"/>
            <a:ext cx="3962400" cy="11175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09600" y="1892300"/>
            <a:ext cx="3657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Ambiguity in Event Support Commitments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609600" y="2209800"/>
            <a:ext cx="3657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40">
                <a:solidFill>
                  <a:srgbClr val="334155"/>
                </a:solidFill>
              </a:rPr>
              <a:t>Some campaign managers have not yet explicitly confirmed their support roles for upcoming events, risking last-minute gaps and coordination breakdowns. Implication: Requires immediate follow-up to ensure full event sponsorship coverage and prevent execution failures.</a:t>
            </a:r>
            <a:endParaRPr sz="740">
              <a:solidFill>
                <a:srgbClr val="334155"/>
              </a:solidFill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57200" y="3048000"/>
            <a:ext cx="3962400" cy="11175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09600" y="3162300"/>
            <a:ext cx="3657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Feature Ranking Data Incompleteness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09600" y="3479800"/>
            <a:ext cx="3657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40">
                <a:solidFill>
                  <a:srgbClr val="334155"/>
                </a:solidFill>
              </a:rPr>
              <a:t>Stack ranking integrates MAU data and qualitative judgment but faces gaps where metrics are partial or emerging features lack data, risking omission of strategically important updates. Implication: Calls for defining clear ranking criteria and assigning metric owners to maintain defensible prioritization.</a:t>
            </a:r>
            <a:endParaRPr sz="740">
              <a:solidFill>
                <a:srgbClr val="334155"/>
              </a:solidFill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724400" y="1778000"/>
            <a:ext cx="3962400" cy="11175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876800" y="1892300"/>
            <a:ext cx="3657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Competitive Analysis Maintenance Complexity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876800" y="2209800"/>
            <a:ext cx="3657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40">
                <a:solidFill>
                  <a:srgbClr val="334155"/>
                </a:solidFill>
              </a:rPr>
              <a:t>Tailoring competitor lists by product stage increases accuracy but requires ongoing maintenance and clear ownership to avoid outdated or inconsistent comparison assets. Implication: Needs documented update protocols and accountability to sustain asset integrity over time.</a:t>
            </a:r>
            <a:endParaRPr sz="740">
              <a:solidFill>
                <a:srgbClr val="334155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724400" y="3048000"/>
            <a:ext cx="3962400" cy="11175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876800" y="3162300"/>
            <a:ext cx="3657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Messaging Adoption and Consistency Risk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876800" y="3479800"/>
            <a:ext cx="36576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80">
                <a:solidFill>
                  <a:srgbClr val="334155"/>
                </a:solidFill>
              </a:rPr>
              <a:t>Finalized messages risk inconsistent use without broad onboarding and documentation, leading to potential drift and diluted brand clarity. Implication: Mandates proactive communication and reinforcement to ensure uniform market voice.</a:t>
            </a:r>
            <a:endParaRPr sz="780">
              <a:solidFill>
                <a:srgbClr val="334155"/>
              </a:solidFill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57200" y="4343400"/>
            <a:ext cx="8229600" cy="4827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35000" y="4432300"/>
            <a:ext cx="7874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</a:rPr>
              <a:t>Closing gaps in event role confirmations, solidifying feature ranking data, and institutionalizing competitive and messaging processes are critical for flawless execution and consistent market impact.</a:t>
            </a:r>
            <a:endParaRPr b="1"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57200" y="2794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900">
                <a:solidFill>
                  <a:srgbClr val="0F172A"/>
                </a:solidFill>
              </a:rPr>
              <a:t>Strategy and Prioritization Framework</a:t>
            </a:r>
            <a:endParaRPr b="1" sz="1900">
              <a:solidFill>
                <a:srgbClr val="0F172A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57200" y="635000"/>
            <a:ext cx="5460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930">
                <a:solidFill>
                  <a:srgbClr val="64748B"/>
                </a:solidFill>
              </a:rPr>
              <a:t>Practical Steps to Optimize Product Marketing Coordination and Messaging</a:t>
            </a:r>
            <a:endParaRPr sz="930">
              <a:solidFill>
                <a:srgbClr val="64748B"/>
              </a:solidFill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57200" y="952500"/>
            <a:ext cx="8229600" cy="4446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09600" y="1041400"/>
            <a:ext cx="7924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A structured approach combining clear ownership, grouped announcements, ranked features, accurate competitive mapping, and unified messaging ensures disciplined execution and market resonance.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57200" y="1549400"/>
            <a:ext cx="2641500" cy="12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09600" y="1663700"/>
            <a:ext cx="2336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Establish Clear Event Sponsorship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09600" y="1981200"/>
            <a:ext cx="233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Assign GTM teams as primary corporate event sponsors with PMMs ensuring explicit commitment from campaign managers. This dual-layer ownership clarifies accountability and streamlines event staffing. Implication: Creates predictable event support cadence and mitigates coordination breakdowns.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641600" y="1651000"/>
            <a:ext cx="304800" cy="22860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2692400" y="1676400"/>
            <a:ext cx="203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FFFFFF"/>
                </a:solidFill>
              </a:rPr>
              <a:t>1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251200" y="1549400"/>
            <a:ext cx="2641500" cy="12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3403600" y="1663700"/>
            <a:ext cx="2336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Consolidate Announcements by Feature Groups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3403600" y="1981200"/>
            <a:ext cx="233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Cluster product updates into mature, grouped themes (e.g., Vulnerability Management) rather than fragmented releases. This enhances message clarity and event impact through compelling, market-ready narratives. Implication: Strengthens PR visibility and maximizes stakeholder engagement.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435600" y="1651000"/>
            <a:ext cx="304800" cy="22860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486400" y="1676400"/>
            <a:ext cx="203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FFFFFF"/>
                </a:solidFill>
              </a:rPr>
              <a:t>2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045200" y="1549400"/>
            <a:ext cx="2641500" cy="12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197600" y="1663700"/>
            <a:ext cx="23367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Implement Stack-Ranking of Features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197600" y="1981200"/>
            <a:ext cx="233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Apply a weighted selection process mixing usage data, community feedback, and expert judgment to prioritize features for announcements, focusing on measurable impact and user value. Implication: Supports defensible, audience-centric messaging that highlights priority innovations.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229600" y="1651000"/>
            <a:ext cx="304800" cy="22860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280400" y="1676400"/>
            <a:ext cx="203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FFFFFF"/>
                </a:solidFill>
              </a:rPr>
              <a:t>3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57200" y="2921000"/>
            <a:ext cx="4038600" cy="12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09600" y="3035300"/>
            <a:ext cx="37338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Tailor Competitive Analysis to Relevant Tier-One Players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09600" y="3352800"/>
            <a:ext cx="373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Map features only against competitors applicable to each product stage, using tiering logic and annotated gaps to improve accuracy and trustworthiness of comparative marketing assets. Implication: Enhances credibility in competitive discussions and reduces confusion.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4038600" y="3022600"/>
            <a:ext cx="304800" cy="22860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089400" y="3048000"/>
            <a:ext cx="203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FFFFFF"/>
                </a:solidFill>
              </a:rPr>
              <a:t>4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648200" y="2921000"/>
            <a:ext cx="4038600" cy="121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800600" y="3035300"/>
            <a:ext cx="37338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100">
                <a:solidFill>
                  <a:srgbClr val="1E3A8A"/>
                </a:solidFill>
              </a:rPr>
              <a:t>Finalize Messaging Framework and Institutionalize Reflection</a:t>
            </a:r>
            <a:endParaRPr b="1" sz="1100">
              <a:solidFill>
                <a:srgbClr val="1E3A8A"/>
              </a:solidFill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800600" y="3352800"/>
            <a:ext cx="373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50">
                <a:solidFill>
                  <a:srgbClr val="334155"/>
                </a:solidFill>
              </a:rPr>
              <a:t>Deploy succinct, parity-driven core phrases consistently across GTM and PR; embed quarterly retrospectives to celebrate wins and refine communications, sustaining momentum and morale. Implication: Ensures unified voice and continuous performance improvement.</a:t>
            </a:r>
            <a:endParaRPr sz="750">
              <a:solidFill>
                <a:srgbClr val="334155"/>
              </a:solidFill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8229600" y="3022600"/>
            <a:ext cx="304800" cy="22860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280400" y="3048000"/>
            <a:ext cx="203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FFFFFF"/>
                </a:solidFill>
              </a:rPr>
              <a:t>5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57200" y="4368800"/>
            <a:ext cx="8229600" cy="43170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35000" y="4457700"/>
            <a:ext cx="7874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</a:rPr>
              <a:t>Adhering to disciplined ownership, prioritized announcements, refined competitive mapping, and coherent messaging creates a scalable framework for impactful product marketing.</a:t>
            </a:r>
            <a:endParaRPr b="1"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57200" y="2794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900">
                <a:solidFill>
                  <a:srgbClr val="0F172A"/>
                </a:solidFill>
              </a:rPr>
              <a:t>Strategic Analysis of Key Marketing Themes</a:t>
            </a:r>
            <a:endParaRPr b="1" sz="1900">
              <a:solidFill>
                <a:srgbClr val="0F172A"/>
              </a:solidFill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457200" y="635000"/>
            <a:ext cx="5460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930">
                <a:solidFill>
                  <a:srgbClr val="64748B"/>
                </a:solidFill>
              </a:rPr>
              <a:t>Assessing Risks, Opportunities, and Tradeoffs Across Critical Workstreams</a:t>
            </a:r>
            <a:endParaRPr sz="930">
              <a:solidFill>
                <a:srgbClr val="64748B"/>
              </a:solidFill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57200" y="952500"/>
            <a:ext cx="8229600" cy="4446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09600" y="1041400"/>
            <a:ext cx="7924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Addressing ambiguities in event support, prioritization methodology nuances, and technical evolution of competitive assets drives GitLab’s marketing agility and market differentiation.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57200" y="1549400"/>
            <a:ext cx="8229600" cy="304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84200" y="16256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30">
                <a:solidFill>
                  <a:srgbClr val="FFFFFF"/>
                </a:solidFill>
              </a:rPr>
              <a:t>Theme / priority</a:t>
            </a:r>
            <a:endParaRPr b="1" sz="830">
              <a:solidFill>
                <a:srgbClr val="FFFFFF"/>
              </a:solidFill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2743200" y="1625600"/>
            <a:ext cx="2667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30">
                <a:solidFill>
                  <a:srgbClr val="FFFFFF"/>
                </a:solidFill>
              </a:rPr>
              <a:t>Evidence / rationale</a:t>
            </a:r>
            <a:endParaRPr b="1" sz="830">
              <a:solidFill>
                <a:srgbClr val="FFFFFF"/>
              </a:solidFill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664200" y="1625600"/>
            <a:ext cx="2895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30">
                <a:solidFill>
                  <a:srgbClr val="FFFFFF"/>
                </a:solidFill>
              </a:rPr>
              <a:t>Implication</a:t>
            </a:r>
            <a:endParaRPr b="1" sz="830">
              <a:solidFill>
                <a:srgbClr val="FFFFFF"/>
              </a:solidFill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57200" y="1854200"/>
            <a:ext cx="8229600" cy="535800"/>
          </a:xfrm>
          <a:prstGeom prst="rect">
            <a:avLst/>
          </a:prstGeom>
          <a:solidFill>
            <a:srgbClr val="FFFFFF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84200" y="1955800"/>
            <a:ext cx="19050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80">
                <a:solidFill>
                  <a:srgbClr val="1E3A8A"/>
                </a:solidFill>
              </a:rPr>
              <a:t>Event Support Coordination Tradeoffs</a:t>
            </a:r>
            <a:endParaRPr b="1" sz="880">
              <a:solidFill>
                <a:srgbClr val="1E3A8A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2743200" y="1943100"/>
            <a:ext cx="2667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680">
                <a:solidFill>
                  <a:srgbClr val="334155"/>
                </a:solidFill>
              </a:rPr>
              <a:t>Clarifying ownership prevents execution risks but requires disciplined commitment tracking. Variability in real-time interaction and possible lapse of documented commitments remains a concern. Evidence: Transcript notes variable interaction frequency across groups and dependence on Slack/issue tracker commitments.</a:t>
            </a:r>
            <a:endParaRPr sz="680">
              <a:solidFill>
                <a:srgbClr val="334155"/>
              </a:solidFill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664200" y="1943100"/>
            <a:ext cx="2895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30">
                <a:solidFill>
                  <a:srgbClr val="334155"/>
                </a:solidFill>
              </a:rPr>
              <a:t>Ongoing monitoring and enforcement of commitment cadence is necessary to sustain event readiness.</a:t>
            </a:r>
            <a:endParaRPr sz="730">
              <a:solidFill>
                <a:srgbClr val="334155"/>
              </a:solidFill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57200" y="2390140"/>
            <a:ext cx="8229600" cy="535800"/>
          </a:xfrm>
          <a:prstGeom prst="rect">
            <a:avLst/>
          </a:prstGeom>
          <a:solidFill>
            <a:srgbClr val="F1F5F9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84200" y="2491740"/>
            <a:ext cx="19050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80">
                <a:solidFill>
                  <a:srgbClr val="1E3A8A"/>
                </a:solidFill>
              </a:rPr>
              <a:t>Feature Excitement Stack Ranking Complexity</a:t>
            </a:r>
            <a:endParaRPr b="1" sz="880">
              <a:solidFill>
                <a:srgbClr val="1E3A8A"/>
              </a:solidFill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2743200" y="2479040"/>
            <a:ext cx="2667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680">
                <a:solidFill>
                  <a:srgbClr val="334155"/>
                </a:solidFill>
              </a:rPr>
              <a:t>Stack ranking responsibly balances quantitative data and qualitative judgment to avoid overlooking valuable emerging features, but incomplete data and subjective elements introduce risk to decision consistency. Evidence: Discussions referenced gaps in MAU data and the necessity of judgment for emerging priorities.</a:t>
            </a:r>
            <a:endParaRPr sz="680">
              <a:solidFill>
                <a:srgbClr val="334155"/>
              </a:solidFill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5664200" y="2479040"/>
            <a:ext cx="2895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30">
                <a:solidFill>
                  <a:srgbClr val="334155"/>
                </a:solidFill>
              </a:rPr>
              <a:t>Must formalize ranking criteria and collect reliable metrics while allowing flexibility for strategic considerations.</a:t>
            </a:r>
            <a:endParaRPr sz="730">
              <a:solidFill>
                <a:srgbClr val="334155"/>
              </a:solidFill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457200" y="2926080"/>
            <a:ext cx="8229600" cy="535800"/>
          </a:xfrm>
          <a:prstGeom prst="rect">
            <a:avLst/>
          </a:prstGeom>
          <a:solidFill>
            <a:srgbClr val="FFFFFF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584200" y="3027680"/>
            <a:ext cx="19050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80">
                <a:solidFill>
                  <a:srgbClr val="1E3A8A"/>
                </a:solidFill>
              </a:rPr>
              <a:t>Competitive Analysis Methodology Enhancements</a:t>
            </a:r>
            <a:endParaRPr b="1" sz="880">
              <a:solidFill>
                <a:srgbClr val="1E3A8A"/>
              </a:solidFill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2743200" y="3014980"/>
            <a:ext cx="2667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680">
                <a:solidFill>
                  <a:srgbClr val="334155"/>
                </a:solidFill>
              </a:rPr>
              <a:t>Tailored competitor mapping by product stage improves accuracy and trustworthiness, offsets prior copy-paste errors, but increases maintenance complexity necessitating defined ownership and update processes. Evidence: Challenges with universal competitor lists and agreement on tier-based inclusion logic.</a:t>
            </a:r>
            <a:endParaRPr sz="680">
              <a:solidFill>
                <a:srgbClr val="334155"/>
              </a:solidFill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5664200" y="3014980"/>
            <a:ext cx="2895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30">
                <a:solidFill>
                  <a:srgbClr val="334155"/>
                </a:solidFill>
              </a:rPr>
              <a:t>Formalized update protocols and owner accountability critical to ongoing asset integrity.</a:t>
            </a:r>
            <a:endParaRPr sz="730">
              <a:solidFill>
                <a:srgbClr val="334155"/>
              </a:solidFill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457200" y="3462020"/>
            <a:ext cx="8229600" cy="535800"/>
          </a:xfrm>
          <a:prstGeom prst="rect">
            <a:avLst/>
          </a:prstGeom>
          <a:solidFill>
            <a:srgbClr val="F1F5F9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584200" y="3563620"/>
            <a:ext cx="19050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80">
                <a:solidFill>
                  <a:srgbClr val="1E3A8A"/>
                </a:solidFill>
              </a:rPr>
              <a:t>Messaging Framework Iteration Outcomes</a:t>
            </a:r>
            <a:endParaRPr b="1" sz="880">
              <a:solidFill>
                <a:srgbClr val="1E3A8A"/>
              </a:solidFill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2743200" y="3550920"/>
            <a:ext cx="2667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680">
                <a:solidFill>
                  <a:srgbClr val="334155"/>
                </a:solidFill>
              </a:rPr>
              <a:t>Consensus messaging balances parity and catchy phrasing, avoiding overstatements or jargon. However, risks persist if inconsistent application arises without rigorous cross-team onboarding and documentation. Evidence: Final phrase selections and rejection of unsupported claims revealed in transcript dialogue.</a:t>
            </a:r>
            <a:endParaRPr sz="680">
              <a:solidFill>
                <a:srgbClr val="334155"/>
              </a:solidFill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5664200" y="3550920"/>
            <a:ext cx="2895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30">
                <a:solidFill>
                  <a:srgbClr val="334155"/>
                </a:solidFill>
              </a:rPr>
              <a:t>Requires systematic training, dissemination, and enforcement to maintain a unified brand voice.</a:t>
            </a:r>
            <a:endParaRPr sz="730">
              <a:solidFill>
                <a:srgbClr val="334155"/>
              </a:solidFill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57200" y="3997960"/>
            <a:ext cx="8229600" cy="535800"/>
          </a:xfrm>
          <a:prstGeom prst="rect">
            <a:avLst/>
          </a:prstGeom>
          <a:solidFill>
            <a:srgbClr val="FFFFFF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584200" y="4099560"/>
            <a:ext cx="19050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80">
                <a:solidFill>
                  <a:srgbClr val="1E3A8A"/>
                </a:solidFill>
              </a:rPr>
              <a:t>Separation of Data and Presentation Layers</a:t>
            </a:r>
            <a:endParaRPr b="1" sz="880">
              <a:solidFill>
                <a:srgbClr val="1E3A8A"/>
              </a:solidFill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2743200" y="4086860"/>
            <a:ext cx="2667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680">
                <a:solidFill>
                  <a:srgbClr val="334155"/>
                </a:solidFill>
              </a:rPr>
              <a:t>Introducing a data-driven model for competitive assets allows rapid updates and scalable customizations, offsetting technical debt. While implementation timelines remain open, this innovation promises significant long-term efficiency gains. Evidence: Nate’s technical explanation of separating underlying data from its presentation format.</a:t>
            </a:r>
            <a:endParaRPr sz="680">
              <a:solidFill>
                <a:srgbClr val="334155"/>
              </a:solidFill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5664200" y="4086860"/>
            <a:ext cx="28956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30">
                <a:solidFill>
                  <a:srgbClr val="334155"/>
                </a:solidFill>
              </a:rPr>
              <a:t>Priority coordination with engineering needed to realize full benefits and accelerate iteration cycles.</a:t>
            </a:r>
            <a:endParaRPr sz="730">
              <a:solidFill>
                <a:srgbClr val="334155"/>
              </a:solidFill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457200" y="4648200"/>
            <a:ext cx="8229600" cy="3810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35000" y="4737100"/>
            <a:ext cx="787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</a:rPr>
              <a:t>Navigating tradeoffs in operational discipline, data completeness, technical modernization, and consistent messaging execution is critical to advancing GitLab’s marketing effectiveness.</a:t>
            </a:r>
            <a:endParaRPr b="1"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57200" y="2794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900">
                <a:solidFill>
                  <a:srgbClr val="0F172A"/>
                </a:solidFill>
              </a:rPr>
              <a:t>Messaging and Positioning Recommendations</a:t>
            </a:r>
            <a:endParaRPr b="1" sz="1900">
              <a:solidFill>
                <a:srgbClr val="0F172A"/>
              </a:solidFill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457200" y="635000"/>
            <a:ext cx="5460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930">
                <a:solidFill>
                  <a:srgbClr val="64748B"/>
                </a:solidFill>
              </a:rPr>
              <a:t>Guidance for Clear, Consistent, and Credible Market Communication</a:t>
            </a:r>
            <a:endParaRPr sz="930">
              <a:solidFill>
                <a:srgbClr val="64748B"/>
              </a:solidFill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57200" y="952500"/>
            <a:ext cx="8229600" cy="4446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09600" y="1041400"/>
            <a:ext cx="7924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Adopt parity-driven, succinct messaging emphasizing transparency and control while avoiding jargon and unsupported claims to reinforce GitLab’s market narrative.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57200" y="1549400"/>
            <a:ext cx="264150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89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09600" y="1651000"/>
            <a:ext cx="2336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64748B"/>
                </a:solidFill>
              </a:rPr>
              <a:t>Current signal</a:t>
            </a:r>
            <a:endParaRPr b="1" sz="800">
              <a:solidFill>
                <a:srgbClr val="64748B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09600" y="1854200"/>
            <a:ext cx="2336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Current Messaging Signal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609600" y="2146300"/>
            <a:ext cx="233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40">
                <a:solidFill>
                  <a:srgbClr val="334155"/>
                </a:solidFill>
              </a:rPr>
              <a:t>Messaging emphasizes transparency, holistic software delivery control, and balancing speed with reduced risk, favoring clarity and parity over technical complexity or exaggeration. Implication: This common language foundation supports consistent internal alignment and external credibility.</a:t>
            </a:r>
            <a:endParaRPr sz="740">
              <a:solidFill>
                <a:srgbClr val="334155"/>
              </a:solidFill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302000" y="1549400"/>
            <a:ext cx="5384700" cy="13716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89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3454400" y="1651000"/>
            <a:ext cx="5079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64748B"/>
                </a:solidFill>
              </a:rPr>
              <a:t>Recommended narrative</a:t>
            </a:r>
            <a:endParaRPr b="1" sz="800">
              <a:solidFill>
                <a:srgbClr val="64748B"/>
              </a:solidFill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3454400" y="1854200"/>
            <a:ext cx="5079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Recommended Narrative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3454400" y="2146300"/>
            <a:ext cx="507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40">
                <a:solidFill>
                  <a:srgbClr val="334155"/>
                </a:solidFill>
              </a:rPr>
              <a:t>Position GitLab as the platform empowering organizations with end-to-end control and the ability to move faster with less risk, underpinned by grouped feature advances showing real-world impact. Implication: Creates memorable, defensible messaging promoting both innovation and stability.</a:t>
            </a:r>
            <a:endParaRPr sz="740">
              <a:solidFill>
                <a:srgbClr val="334155"/>
              </a:solidFill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57200" y="3098800"/>
            <a:ext cx="4013100" cy="10413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89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09600" y="3200400"/>
            <a:ext cx="3708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64748B"/>
                </a:solidFill>
              </a:rPr>
              <a:t>Proof points</a:t>
            </a:r>
            <a:endParaRPr b="1" sz="800">
              <a:solidFill>
                <a:srgbClr val="64748B"/>
              </a:solidFill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09600" y="3403600"/>
            <a:ext cx="3708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Proof Points to Highlight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09600" y="3695700"/>
            <a:ext cx="37083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40">
                <a:solidFill>
                  <a:srgbClr val="334155"/>
                </a:solidFill>
              </a:rPr>
              <a:t>Highlight grouped feature advances, honest tiered competitive comparisons, UX and integration improvements, committed team reflection on wins, and data-driven prioritization enhancing customer relevance. Implication: Supports a multidimensional, credible story that resonates across audiences.</a:t>
            </a:r>
            <a:endParaRPr sz="740">
              <a:solidFill>
                <a:srgbClr val="334155"/>
              </a:solidFill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673600" y="3098800"/>
            <a:ext cx="4013100" cy="10413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89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4826000" y="3200400"/>
            <a:ext cx="3708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00">
                <a:solidFill>
                  <a:srgbClr val="64748B"/>
                </a:solidFill>
              </a:rPr>
              <a:t>Messaging risk</a:t>
            </a:r>
            <a:endParaRPr b="1" sz="800">
              <a:solidFill>
                <a:srgbClr val="64748B"/>
              </a:solidFill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4826000" y="3403600"/>
            <a:ext cx="3708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Messaging Risks to Avoid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4826000" y="3695700"/>
            <a:ext cx="37083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40">
                <a:solidFill>
                  <a:srgbClr val="334155"/>
                </a:solidFill>
              </a:rPr>
              <a:t>Avoid claims of absolute security or no tradeoffs, overly technical jargon, emphasizing minimally adopted features, inconsistent phrase usage, and unstable messaging frameworks that confuse customers. Implication: Requires discipline in messaging governance and ongoing cross-functional enablement.</a:t>
            </a:r>
            <a:endParaRPr sz="740">
              <a:solidFill>
                <a:srgbClr val="334155"/>
              </a:solidFill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457200" y="4343400"/>
            <a:ext cx="8229600" cy="533400"/>
          </a:xfrm>
          <a:prstGeom prst="roundRect">
            <a:avLst>
              <a:gd fmla="val 1666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635000" y="4432300"/>
            <a:ext cx="787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</a:rPr>
              <a:t>Unified, parity-based messaging anchored in transparency and real impact positions GitLab strongly while mitigating risks of exaggeration or fragmentation.</a:t>
            </a:r>
            <a:endParaRPr b="1"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457200" y="2794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900">
                <a:solidFill>
                  <a:srgbClr val="0F172A"/>
                </a:solidFill>
              </a:rPr>
              <a:t>Next Steps, Ownership, and Success Signals</a:t>
            </a:r>
            <a:endParaRPr b="1" sz="1900">
              <a:solidFill>
                <a:srgbClr val="0F172A"/>
              </a:solidFill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457200" y="635000"/>
            <a:ext cx="5460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930">
                <a:solidFill>
                  <a:srgbClr val="64748B"/>
                </a:solidFill>
              </a:rPr>
              <a:t>Concrete Actions to Embed Coordination, Prioritization, and Messaging Improvements</a:t>
            </a:r>
            <a:endParaRPr sz="930">
              <a:solidFill>
                <a:srgbClr val="64748B"/>
              </a:solidFill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457200" y="952500"/>
            <a:ext cx="8229600" cy="4446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09600" y="1041400"/>
            <a:ext cx="7924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000">
                <a:solidFill>
                  <a:srgbClr val="1E3A8A"/>
                </a:solidFill>
              </a:rPr>
              <a:t>Executing defined audits, finalizing prioritization criteria, updating competitive assets, disseminating messaging, and institutionalizing win reflections are critical to advancing and sustaining improvements.</a:t>
            </a:r>
            <a:endParaRPr b="1" sz="1000">
              <a:solidFill>
                <a:srgbClr val="1E3A8A"/>
              </a:solidFill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381000" y="1574800"/>
            <a:ext cx="8382000" cy="304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508000" y="1651000"/>
            <a:ext cx="3365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0">
                <a:solidFill>
                  <a:srgbClr val="FFFFFF"/>
                </a:solidFill>
              </a:rPr>
              <a:t>Action</a:t>
            </a:r>
            <a:endParaRPr b="1" sz="820">
              <a:solidFill>
                <a:srgbClr val="FFFFFF"/>
              </a:solidFill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4102100" y="1651000"/>
            <a:ext cx="939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0">
                <a:solidFill>
                  <a:srgbClr val="FFFFFF"/>
                </a:solidFill>
              </a:rPr>
              <a:t>Owner</a:t>
            </a:r>
            <a:endParaRPr b="1" sz="820">
              <a:solidFill>
                <a:srgbClr val="FFFFFF"/>
              </a:solidFill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5245100" y="1651000"/>
            <a:ext cx="939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0">
                <a:solidFill>
                  <a:srgbClr val="FFFFFF"/>
                </a:solidFill>
              </a:rPr>
              <a:t>Deadline</a:t>
            </a:r>
            <a:endParaRPr b="1" sz="820">
              <a:solidFill>
                <a:srgbClr val="FFFFFF"/>
              </a:solidFill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6388100" y="1651000"/>
            <a:ext cx="227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820">
                <a:solidFill>
                  <a:srgbClr val="FFFFFF"/>
                </a:solidFill>
              </a:rPr>
              <a:t>Success signal</a:t>
            </a:r>
            <a:endParaRPr b="1" sz="820">
              <a:solidFill>
                <a:srgbClr val="FFFFFF"/>
              </a:solidFill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381000" y="1879600"/>
            <a:ext cx="8382000" cy="425400"/>
          </a:xfrm>
          <a:prstGeom prst="rect">
            <a:avLst/>
          </a:prstGeom>
          <a:solidFill>
            <a:srgbClr val="FFFFFF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508000" y="1968500"/>
            <a:ext cx="336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80">
                <a:solidFill>
                  <a:srgbClr val="0F172A"/>
                </a:solidFill>
              </a:rPr>
              <a:t>Audit and document all event-support assignments and confirmations for key industry events.</a:t>
            </a:r>
            <a:endParaRPr b="1" sz="780">
              <a:solidFill>
                <a:srgbClr val="0F172A"/>
              </a:solidFill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4102100" y="196850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[Owner]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5245100" y="196850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[Deadline]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6388100" y="1968500"/>
            <a:ext cx="2273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All events have named owners and visible campaign manager commitments.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81000" y="2305050"/>
            <a:ext cx="8382000" cy="425400"/>
          </a:xfrm>
          <a:prstGeom prst="rect">
            <a:avLst/>
          </a:prstGeom>
          <a:solidFill>
            <a:srgbClr val="F1F5F9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508000" y="2393950"/>
            <a:ext cx="336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80">
                <a:solidFill>
                  <a:srgbClr val="0F172A"/>
                </a:solidFill>
              </a:rPr>
              <a:t>Finalize grouped product announcement themes and cross-check with all relevant product stage owners.</a:t>
            </a:r>
            <a:endParaRPr b="1" sz="780">
              <a:solidFill>
                <a:srgbClr val="0F172A"/>
              </a:solidFill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4102100" y="239395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[Owner]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5245100" y="239395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[Deadline]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6388100" y="2393950"/>
            <a:ext cx="2273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Clear, market-ready announcement buckets for each event.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81000" y="2730500"/>
            <a:ext cx="8382000" cy="425400"/>
          </a:xfrm>
          <a:prstGeom prst="rect">
            <a:avLst/>
          </a:prstGeom>
          <a:solidFill>
            <a:srgbClr val="FFFFFF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508000" y="2819400"/>
            <a:ext cx="336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80">
                <a:solidFill>
                  <a:srgbClr val="0F172A"/>
                </a:solidFill>
              </a:rPr>
              <a:t>Define and publish criteria and metrics for feature stack ranking (including MAU, upvotes, and key customer asks).</a:t>
            </a:r>
            <a:endParaRPr b="1" sz="780">
              <a:solidFill>
                <a:srgbClr val="0F172A"/>
              </a:solidFill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4102100" y="281940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[Owner]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5245100" y="281940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[Deadline]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6388100" y="2819400"/>
            <a:ext cx="2273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Transparent, reproducible ranking methodology adopted by all.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81000" y="3155950"/>
            <a:ext cx="8382000" cy="425400"/>
          </a:xfrm>
          <a:prstGeom prst="rect">
            <a:avLst/>
          </a:prstGeom>
          <a:solidFill>
            <a:srgbClr val="F1F5F9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508000" y="3244850"/>
            <a:ext cx="336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80">
                <a:solidFill>
                  <a:srgbClr val="0F172A"/>
                </a:solidFill>
              </a:rPr>
              <a:t>Update competitive analysis spreadsheets to only include relevant competitors per product stage and annotate gaps.</a:t>
            </a:r>
            <a:endParaRPr b="1" sz="780">
              <a:solidFill>
                <a:srgbClr val="0F172A"/>
              </a:solidFill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4102100" y="324485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[Owner]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245100" y="324485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[Deadline]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6388100" y="3244850"/>
            <a:ext cx="2273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Competitive summaries reflect only relevant, tiered competitors and clear omissions.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81000" y="3581400"/>
            <a:ext cx="8382000" cy="425400"/>
          </a:xfrm>
          <a:prstGeom prst="rect">
            <a:avLst/>
          </a:prstGeom>
          <a:solidFill>
            <a:srgbClr val="FFFFFF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508000" y="3670300"/>
            <a:ext cx="336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80">
                <a:solidFill>
                  <a:srgbClr val="0F172A"/>
                </a:solidFill>
              </a:rPr>
              <a:t>Document and disseminate finalized messaging framework to all GTM, PR, and Product teams.</a:t>
            </a:r>
            <a:endParaRPr b="1" sz="780">
              <a:solidFill>
                <a:srgbClr val="0F172A"/>
              </a:solidFill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4102100" y="367030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[Owner]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5245100" y="367030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[Deadline]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6388100" y="3670300"/>
            <a:ext cx="2273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All messaging in decks, pitches, and collateral is aligned.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381000" y="4006850"/>
            <a:ext cx="8382000" cy="425400"/>
          </a:xfrm>
          <a:prstGeom prst="rect">
            <a:avLst/>
          </a:prstGeom>
          <a:solidFill>
            <a:srgbClr val="F1F5F9"/>
          </a:solidFill>
          <a:ln cap="flat" cmpd="sng" w="50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508000" y="4095750"/>
            <a:ext cx="336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780">
                <a:solidFill>
                  <a:srgbClr val="0F172A"/>
                </a:solidFill>
              </a:rPr>
              <a:t>Coordinate with engineering/design to separate core data from presentation in comparison tools.</a:t>
            </a:r>
            <a:endParaRPr b="1" sz="780">
              <a:solidFill>
                <a:srgbClr val="0F172A"/>
              </a:solidFill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4102100" y="409575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[Owner]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5245100" y="4095750"/>
            <a:ext cx="939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20">
                <a:solidFill>
                  <a:srgbClr val="334155"/>
                </a:solidFill>
              </a:rPr>
              <a:t>[Deadline]</a:t>
            </a:r>
            <a:endParaRPr sz="720">
              <a:solidFill>
                <a:srgbClr val="334155"/>
              </a:solidFill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6388100" y="4095750"/>
            <a:ext cx="2273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710">
                <a:solidFill>
                  <a:srgbClr val="334155"/>
                </a:solidFill>
              </a:rPr>
              <a:t>Marketing assets can be updated with new data without technical overhaul.</a:t>
            </a:r>
            <a:endParaRPr sz="710">
              <a:solidFill>
                <a:srgbClr val="334155"/>
              </a:solidFill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381000" y="4597400"/>
            <a:ext cx="8382000" cy="4317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558800" y="4686300"/>
            <a:ext cx="8026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950">
                <a:solidFill>
                  <a:srgbClr val="FFFFFF"/>
                </a:solidFill>
              </a:rPr>
              <a:t>Instituting these concrete, measurable actions transforms strategic decisions into dependable marketing execution and sustainable team performance.</a:t>
            </a:r>
            <a:endParaRPr b="1"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